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Florida</c:v>
          </c:tx>
          <c:spPr>
            <a:ln w="9525">
              <a:solidFill>
                <a:srgbClr val="E07A45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E07A45"/>
              </a:solidFill>
            </c:spPr>
          </c:marker>
          <c:xVal>
            <c:numLit>
              <c:formatCode>General</c:formatCode>
              <c:ptCount val="16"/>
              <c:pt idx="0">
                <c:v>153441.51</c:v>
              </c:pt>
              <c:pt idx="1">
                <c:v>142107.34</c:v>
              </c:pt>
              <c:pt idx="2">
                <c:v>130298.13</c:v>
              </c:pt>
              <c:pt idx="3">
                <c:v>101913.08</c:v>
              </c:pt>
              <c:pt idx="4">
                <c:v>93863.75</c:v>
              </c:pt>
              <c:pt idx="5">
                <c:v>119943.24</c:v>
              </c:pt>
              <c:pt idx="6">
                <c:v>91749.16</c:v>
              </c:pt>
              <c:pt idx="7">
                <c:v>73994.559999999998</c:v>
              </c:pt>
              <c:pt idx="8">
                <c:v>67532.53</c:v>
              </c:pt>
              <c:pt idx="9">
                <c:v>75328.87</c:v>
              </c:pt>
              <c:pt idx="10">
                <c:v>66051.520000000004</c:v>
              </c:pt>
              <c:pt idx="11">
                <c:v>61994.48</c:v>
              </c:pt>
              <c:pt idx="12">
                <c:v>55493.95</c:v>
              </c:pt>
              <c:pt idx="13">
                <c:v>28663.759999999998</c:v>
              </c:pt>
              <c:pt idx="14">
                <c:v>27892.92</c:v>
              </c:pt>
              <c:pt idx="15">
                <c:v>1315.46</c:v>
              </c:pt>
            </c:numLit>
          </c:xVal>
          <c:yVal>
            <c:numLit>
              <c:formatCode>#,##0</c:formatCode>
              <c:ptCount val="16"/>
              <c:pt idx="0">
                <c:v>191050.39</c:v>
              </c:pt>
              <c:pt idx="1">
                <c:v>166187.94</c:v>
              </c:pt>
              <c:pt idx="2">
                <c:v>155752.6</c:v>
              </c:pt>
              <c:pt idx="3">
                <c:v>146121.95000000001</c:v>
              </c:pt>
              <c:pt idx="4">
                <c:v>141585.51999999999</c:v>
              </c:pt>
              <c:pt idx="5">
                <c:v>132602.65</c:v>
              </c:pt>
              <c:pt idx="6">
                <c:v>124266.9</c:v>
              </c:pt>
              <c:pt idx="7">
                <c:v>110352.25</c:v>
              </c:pt>
              <c:pt idx="8">
                <c:v>108733.99</c:v>
              </c:pt>
              <c:pt idx="9">
                <c:v>105733.54</c:v>
              </c:pt>
              <c:pt idx="10">
                <c:v>103282.38</c:v>
              </c:pt>
              <c:pt idx="11">
                <c:v>99937.59</c:v>
              </c:pt>
              <c:pt idx="12">
                <c:v>96778.92</c:v>
              </c:pt>
              <c:pt idx="13">
                <c:v>90708.19</c:v>
              </c:pt>
              <c:pt idx="14">
                <c:v>77798.83</c:v>
              </c:pt>
              <c:pt idx="15">
                <c:v>49490.75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AD12-4EF9-BB25-C88E1BE45B1C}"/>
            </c:ext>
          </c:extLst>
        </c:ser>
        <c:ser>
          <c:idx val="1"/>
          <c:order val="1"/>
          <c:tx>
            <c:v>New York</c:v>
          </c:tx>
          <c:spPr>
            <a:ln w="9525">
              <a:solidFill>
                <a:srgbClr val="425B76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425B76"/>
              </a:solidFill>
            </c:spPr>
          </c:marker>
          <c:xVal>
            <c:numLit>
              <c:formatCode>General</c:formatCode>
              <c:ptCount val="17"/>
              <c:pt idx="0">
                <c:v>165349.20000000001</c:v>
              </c:pt>
              <c:pt idx="1">
                <c:v>144372.41</c:v>
              </c:pt>
              <c:pt idx="2">
                <c:v>131876.9</c:v>
              </c:pt>
              <c:pt idx="3">
                <c:v>120542.52</c:v>
              </c:pt>
              <c:pt idx="4">
                <c:v>114523.61</c:v>
              </c:pt>
              <c:pt idx="5">
                <c:v>94657.16</c:v>
              </c:pt>
              <c:pt idx="6">
                <c:v>86419.7</c:v>
              </c:pt>
              <c:pt idx="7">
                <c:v>78389.47</c:v>
              </c:pt>
              <c:pt idx="8">
                <c:v>77044.009999999995</c:v>
              </c:pt>
              <c:pt idx="9">
                <c:v>72107.600000000006</c:v>
              </c:pt>
              <c:pt idx="10">
                <c:v>65605.48</c:v>
              </c:pt>
              <c:pt idx="11">
                <c:v>61136.38</c:v>
              </c:pt>
              <c:pt idx="12">
                <c:v>46014.02</c:v>
              </c:pt>
              <c:pt idx="13">
                <c:v>20229.59</c:v>
              </c:pt>
              <c:pt idx="14">
                <c:v>15505.73</c:v>
              </c:pt>
              <c:pt idx="15">
                <c:v>1000.23</c:v>
              </c:pt>
              <c:pt idx="16">
                <c:v>542.04999999999995</c:v>
              </c:pt>
            </c:numLit>
          </c:xVal>
          <c:yVal>
            <c:numLit>
              <c:formatCode>#,##0</c:formatCode>
              <c:ptCount val="17"/>
              <c:pt idx="0">
                <c:v>192261.83</c:v>
              </c:pt>
              <c:pt idx="1">
                <c:v>182901.99</c:v>
              </c:pt>
              <c:pt idx="2">
                <c:v>156991.12</c:v>
              </c:pt>
              <c:pt idx="3">
                <c:v>152211.76999999999</c:v>
              </c:pt>
              <c:pt idx="4">
                <c:v>129917.04</c:v>
              </c:pt>
              <c:pt idx="5">
                <c:v>125370.37</c:v>
              </c:pt>
              <c:pt idx="6">
                <c:v>122776.86</c:v>
              </c:pt>
              <c:pt idx="7">
                <c:v>111313.02</c:v>
              </c:pt>
              <c:pt idx="8">
                <c:v>108552.04</c:v>
              </c:pt>
              <c:pt idx="9">
                <c:v>105008.31</c:v>
              </c:pt>
              <c:pt idx="10">
                <c:v>101004.64</c:v>
              </c:pt>
              <c:pt idx="11">
                <c:v>97483.56</c:v>
              </c:pt>
              <c:pt idx="12">
                <c:v>96479.51</c:v>
              </c:pt>
              <c:pt idx="13">
                <c:v>81229.06</c:v>
              </c:pt>
              <c:pt idx="14">
                <c:v>69758.98</c:v>
              </c:pt>
              <c:pt idx="15">
                <c:v>64926.080000000002</c:v>
              </c:pt>
              <c:pt idx="16">
                <c:v>35673.410000000003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AD12-4EF9-BB25-C88E1BE45B1C}"/>
            </c:ext>
          </c:extLst>
        </c:ser>
        <c:ser>
          <c:idx val="2"/>
          <c:order val="2"/>
          <c:tx>
            <c:v>California</c:v>
          </c:tx>
          <c:spPr>
            <a:ln w="9525">
              <a:solidFill>
                <a:srgbClr val="168AAD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168AAD"/>
              </a:solidFill>
            </c:spPr>
          </c:marker>
          <c:xVal>
            <c:numLit>
              <c:formatCode>General</c:formatCode>
              <c:ptCount val="17"/>
              <c:pt idx="0">
                <c:v>162597.70000000001</c:v>
              </c:pt>
              <c:pt idx="1">
                <c:v>134615.46</c:v>
              </c:pt>
              <c:pt idx="2">
                <c:v>123334.88</c:v>
              </c:pt>
              <c:pt idx="3">
                <c:v>100671.96</c:v>
              </c:pt>
              <c:pt idx="4">
                <c:v>91992.39</c:v>
              </c:pt>
              <c:pt idx="5">
                <c:v>78013.11</c:v>
              </c:pt>
              <c:pt idx="6">
                <c:v>76253.86</c:v>
              </c:pt>
              <c:pt idx="7">
                <c:v>64664.71</c:v>
              </c:pt>
              <c:pt idx="8">
                <c:v>63408.86</c:v>
              </c:pt>
              <c:pt idx="9">
                <c:v>46426.07</c:v>
              </c:pt>
              <c:pt idx="10">
                <c:v>44069.95</c:v>
              </c:pt>
              <c:pt idx="11">
                <c:v>38558.51</c:v>
              </c:pt>
              <c:pt idx="12">
                <c:v>28754.33</c:v>
              </c:pt>
              <c:pt idx="13">
                <c:v>23640.93</c:v>
              </c:pt>
              <c:pt idx="14">
                <c:v>22177.74</c:v>
              </c:pt>
              <c:pt idx="15">
                <c:v>0</c:v>
              </c:pt>
              <c:pt idx="16">
                <c:v>0</c:v>
              </c:pt>
            </c:numLit>
          </c:xVal>
          <c:yVal>
            <c:numLit>
              <c:formatCode>#,##0</c:formatCode>
              <c:ptCount val="17"/>
              <c:pt idx="0">
                <c:v>191792.06</c:v>
              </c:pt>
              <c:pt idx="1">
                <c:v>156122.51</c:v>
              </c:pt>
              <c:pt idx="2">
                <c:v>149759.96</c:v>
              </c:pt>
              <c:pt idx="3">
                <c:v>144259.4</c:v>
              </c:pt>
              <c:pt idx="4">
                <c:v>134307.35</c:v>
              </c:pt>
              <c:pt idx="5">
                <c:v>126992.93</c:v>
              </c:pt>
              <c:pt idx="6">
                <c:v>118474.03</c:v>
              </c:pt>
              <c:pt idx="7">
                <c:v>107404.34</c:v>
              </c:pt>
              <c:pt idx="8">
                <c:v>97427.839999999997</c:v>
              </c:pt>
              <c:pt idx="9">
                <c:v>96712.8</c:v>
              </c:pt>
              <c:pt idx="10">
                <c:v>89949.14</c:v>
              </c:pt>
              <c:pt idx="11">
                <c:v>81005.759999999995</c:v>
              </c:pt>
              <c:pt idx="12">
                <c:v>78239.91</c:v>
              </c:pt>
              <c:pt idx="13">
                <c:v>71498.490000000005</c:v>
              </c:pt>
              <c:pt idx="14">
                <c:v>65200.33</c:v>
              </c:pt>
              <c:pt idx="15">
                <c:v>42559.73</c:v>
              </c:pt>
              <c:pt idx="16">
                <c:v>14681.4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AD12-4EF9-BB25-C88E1BE45B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7EDF1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Profit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9525">
            <a:solidFill>
              <a:srgbClr val="D7E0E7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IN">
                    <a:latin typeface="Arial"/>
                    <a:ea typeface="Arial"/>
                    <a:cs typeface="Arial"/>
                  </a:rPr>
                  <a:t>R&amp;D Spend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7E0E7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596B7A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Correlation with Profit</c:v>
          </c:tx>
          <c:spPr>
            <a:solidFill>
              <a:srgbClr val="087E8B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R&amp;D Spend</c:v>
              </c:pt>
              <c:pt idx="1">
                <c:v>Marketing Spend</c:v>
              </c:pt>
              <c:pt idx="2">
                <c:v>Administration</c:v>
              </c:pt>
            </c:strLit>
          </c:cat>
          <c:val>
            <c:numLit>
              <c:formatCode>General</c:formatCode>
              <c:ptCount val="3"/>
              <c:pt idx="0">
                <c:v>0.97299999999999998</c:v>
              </c:pt>
              <c:pt idx="1">
                <c:v>0.748</c:v>
              </c:pt>
              <c:pt idx="2">
                <c:v>0.20100000000000001</c:v>
              </c:pt>
            </c:numLit>
          </c:val>
          <c:extLst>
            <c:ext xmlns:c16="http://schemas.microsoft.com/office/drawing/2014/chart" uri="{C3380CC4-5D6E-409C-BE32-E72D297353CC}">
              <c16:uniqueId val="{00000000-CBD7-409D-B181-D131857249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7ED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0E7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Profit</c:v>
          </c:tx>
          <c:spPr>
            <a:solidFill>
              <a:srgbClr val="D97745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Florida (n=16)</c:v>
              </c:pt>
              <c:pt idx="1">
                <c:v>New York (n=17)</c:v>
              </c:pt>
              <c:pt idx="2">
                <c:v>California (n=17)</c:v>
              </c:pt>
            </c:strLit>
          </c:cat>
          <c:val>
            <c:numLit>
              <c:formatCode>#,##0</c:formatCode>
              <c:ptCount val="3"/>
              <c:pt idx="0">
                <c:v>118774.02437500002</c:v>
              </c:pt>
              <c:pt idx="1">
                <c:v>113756.44647058824</c:v>
              </c:pt>
              <c:pt idx="2">
                <c:v>103905.17529411765</c:v>
              </c:pt>
            </c:numLit>
          </c:val>
          <c:extLst>
            <c:ext xmlns:c16="http://schemas.microsoft.com/office/drawing/2014/chart" uri="{C3380CC4-5D6E-409C-BE32-E72D297353CC}">
              <c16:uniqueId val="{00000000-52E7-4DFD-8085-06FDD97C51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0E7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0000"/>
          <c:min val="0"/>
        </c:scaling>
        <c:delete val="0"/>
        <c:axPos val="l"/>
        <c:majorGridlines>
          <c:spPr>
            <a:ln w="9525">
              <a:solidFill>
                <a:srgbClr val="E7EDF1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7E0E7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0000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The dataset contains 50 startup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Dataset source was selected as CSV. The supplied brief asks for profit prediction and visualization by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Scatter chart uses the 50 supplied rows, grouped into state series. Values are from startup_profit_data.csv.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Correlation values were calculated from the three spending columns and Profit in startup_profit_data.csv. Correlation does not establish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State averages and counts are calculated from the 50 supplied rows. New York total profit is 1,933,859.59; Florida total profit is 1,900,384.39.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Regression coefficients and full-sample R-squared were computed from the 50-row CSV. Holdout metrics use an 80/20 split with random_state=42. Monetary units are unspecified in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Predictions match the two feature rows supplied in PRDA-01.docx_profit_analysis.docx.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startup_profit_data.csv and PRDA-01.docx_profit_analysis.docx. Recommendations and limitations are based on the supplied data and the project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A9C64ED-A2EA-40B4-8EDF-1785632C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10880DB-070F-4D13-845A-37E1DF622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831C8D5-6E10-4BE7-A482-881D1579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8E983CB-10C6-4FA5-8760-EBEF1DF6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B59A24F-0099-400C-BCB9-16135E605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624071B-A21B-4156-B880-C958BEE9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46C777-3497-4CD9-BE2E-0762173B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DE92BFE-9C90-485B-B528-1D32FC2D0B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5633AF8-7B4D-4914-9008-18369C53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AA3C55F-AE91-4578-A057-D39268069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E315EF-BE51-4A11-A7E4-EF163A3EEA21}"/>
              </a:ext>
            </a:extLst>
          </p:cNvPr>
          <p:cNvSpPr>
            <a:spLocks noGrp="1"/>
          </p:cNvSpPr>
          <p:nvPr/>
        </p:nvSpPr>
        <p:spPr>
          <a:xfrm>
            <a:off x="742950" y="1104900"/>
            <a:ext cx="95250" cy="1219200"/>
          </a:xfrm>
          <a:prstGeom prst="rect">
            <a:avLst/>
          </a:prstGeom>
          <a:solidFill>
            <a:srgbClr val="D97745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6D0FC5-AFB1-4655-92B2-F5EBEE3756C9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1000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STARTUP PROFIT</a:t>
            </a:r>
          </a:p>
          <a:p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67DF09-A6DA-46AB-9698-8FD711564F2E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8858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02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CE8F0"/>
                </a:solidFill>
                <a:latin typeface="Arial"/>
                <a:ea typeface="Arial"/>
                <a:cs typeface="Arial"/>
              </a:rPr>
              <a:t>How R&amp;D, Administration, and Marketing spending relate to profit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D42AFE-6A02-4199-B4C4-0BF2AB0F0A5B}"/>
              </a:ext>
            </a:extLst>
          </p:cNvPr>
          <p:cNvSpPr>
            <a:spLocks noGrp="1"/>
          </p:cNvSpPr>
          <p:nvPr/>
        </p:nvSpPr>
        <p:spPr>
          <a:xfrm>
            <a:off x="1123950" y="4248150"/>
            <a:ext cx="2857500" cy="2857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3253E-400D-4F15-BCE9-A96A99F2E6CC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8F0"/>
                </a:solidFill>
                <a:latin typeface="Arial"/>
                <a:ea typeface="Arial"/>
                <a:cs typeface="Arial"/>
              </a:rPr>
              <a:t>50 startups  •  Multiple linear regression  •  Power BI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63D290-B558-4B86-9590-BFAAE3C5D393}"/>
              </a:ext>
            </a:extLst>
          </p:cNvPr>
          <p:cNvSpPr>
            <a:spLocks noGrp="1"/>
          </p:cNvSpPr>
          <p:nvPr/>
        </p:nvSpPr>
        <p:spPr>
          <a:xfrm>
            <a:off x="1123950" y="595312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275" b="0">
                <a:solidFill>
                  <a:srgbClr val="A9BD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DC9"/>
                </a:solidFill>
                <a:latin typeface="Arial"/>
                <a:ea typeface="Arial"/>
                <a:cs typeface="Arial"/>
              </a:rPr>
              <a:t>Project analysis</a:t>
            </a:r>
          </a:p>
        </p:txBody>
      </p:sp>
    </p:spTree>
    <p:extLst>
      <p:ext uri="{BB962C8B-B14F-4D97-AF65-F5344CB8AC3E}">
        <p14:creationId xmlns:p14="http://schemas.microsoft.com/office/powerpoint/2010/main" val="120597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CCFC2B1-7D68-40A2-B989-A90C61A1F1D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45720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547C3-3A89-499B-82CD-40F4DDC24B23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Project question and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7FB4D9-7220-446A-B68D-4B5F68626C7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9525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6A5EF2-D148-4347-A85B-23CE5D07058F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02  / 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59DB2B-9C68-4E73-8755-D86356ABC3E6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5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313F"/>
                </a:solidFill>
                <a:latin typeface="Arial"/>
                <a:ea typeface="Arial"/>
                <a:cs typeface="Arial"/>
              </a:rPr>
              <a:t>Can spending levels help explain startup profit?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E5B92-3BE1-41A5-81D7-251BE2E110BC}"/>
              </a:ext>
            </a:extLst>
          </p:cNvPr>
          <p:cNvSpPr>
            <a:spLocks noGrp="1"/>
          </p:cNvSpPr>
          <p:nvPr/>
        </p:nvSpPr>
        <p:spPr>
          <a:xfrm>
            <a:off x="647700" y="1952625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We model Profit from three spending fields and compare patterns by State.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5350F-00CA-44E1-BB01-A840B6652163}"/>
              </a:ext>
            </a:extLst>
          </p:cNvPr>
          <p:cNvSpPr>
            <a:spLocks noGrp="1"/>
          </p:cNvSpPr>
          <p:nvPr/>
        </p:nvSpPr>
        <p:spPr>
          <a:xfrm>
            <a:off x="647700" y="2857500"/>
            <a:ext cx="4953000" cy="19050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434CF3-5B19-42B0-B403-1A58FA8E2B25}"/>
              </a:ext>
            </a:extLst>
          </p:cNvPr>
          <p:cNvSpPr>
            <a:spLocks noGrp="1"/>
          </p:cNvSpPr>
          <p:nvPr/>
        </p:nvSpPr>
        <p:spPr>
          <a:xfrm>
            <a:off x="6343650" y="2857500"/>
            <a:ext cx="4953000" cy="19050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786715-9C00-474D-9C85-4E87DFC7AA83}"/>
              </a:ext>
            </a:extLst>
          </p:cNvPr>
          <p:cNvSpPr>
            <a:spLocks noGrp="1"/>
          </p:cNvSpPr>
          <p:nvPr/>
        </p:nvSpPr>
        <p:spPr>
          <a:xfrm>
            <a:off x="647700" y="3095625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PREDICTORS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EA4DE0-DEFB-4AC6-B599-8FBD1F51F255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4762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R&amp;D Spend</a:t>
            </a:r>
          </a:p>
          <a:p>
            <a:pPr algn="l">
              <a:lnSpc>
                <a:spcPct val="105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Administration</a:t>
            </a:r>
          </a:p>
          <a:p>
            <a:pPr algn="l">
              <a:lnSpc>
                <a:spcPct val="105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Marketing Spend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4D25D-FEBF-4B1C-90F6-46101E541C81}"/>
              </a:ext>
            </a:extLst>
          </p:cNvPr>
          <p:cNvSpPr>
            <a:spLocks noGrp="1"/>
          </p:cNvSpPr>
          <p:nvPr/>
        </p:nvSpPr>
        <p:spPr>
          <a:xfrm>
            <a:off x="6343650" y="3095625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OUTCOME AND SEGMENT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1B1B5-133A-4C73-AB81-C762A84EC605}"/>
              </a:ext>
            </a:extLst>
          </p:cNvPr>
          <p:cNvSpPr>
            <a:spLocks noGrp="1"/>
          </p:cNvSpPr>
          <p:nvPr/>
        </p:nvSpPr>
        <p:spPr>
          <a:xfrm>
            <a:off x="6343650" y="352425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Profit</a:t>
            </a:r>
          </a:p>
          <a:p>
            <a:pPr algn="l">
              <a:lnSpc>
                <a:spcPct val="105000"/>
              </a:lnSpc>
              <a:buNone/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State: California, Florida, New York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392831-8D48-4F3A-B0F5-AC387326DC6B}"/>
              </a:ext>
            </a:extLst>
          </p:cNvPr>
          <p:cNvSpPr>
            <a:spLocks noGrp="1"/>
          </p:cNvSpPr>
          <p:nvPr/>
        </p:nvSpPr>
        <p:spPr>
          <a:xfrm>
            <a:off x="647700" y="56197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50 rows  |  5 fields  |  CSV source</a:t>
            </a:r>
          </a:p>
        </p:txBody>
      </p:sp>
    </p:spTree>
    <p:extLst>
      <p:ext uri="{BB962C8B-B14F-4D97-AF65-F5344CB8AC3E}">
        <p14:creationId xmlns:p14="http://schemas.microsoft.com/office/powerpoint/2010/main" val="416196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334521-7C44-441D-AD8D-D8A6C7E6B65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45720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8401CF-E311-4FC6-A218-C326942DC313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R&amp;D spending and profit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E08EC-BBCF-4AF7-8A56-0D07439ABD8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9525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90826-B6B1-4A25-A832-AF7AB695A651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03  / 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B8D68-F3F8-4281-94C1-FCD8A2014F42}"/>
              </a:ext>
            </a:extLst>
          </p:cNvPr>
          <p:cNvSpPr>
            <a:spLocks noGrp="1"/>
          </p:cNvSpPr>
          <p:nvPr/>
        </p:nvSpPr>
        <p:spPr>
          <a:xfrm>
            <a:off x="647700" y="1133475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Each dot represents one startup; colors identify State.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3CE389C5-6FC7-4A9F-9B04-57494064F119}"/>
              </a:ext>
            </a:extLst>
          </p:cNvPr>
          <p:cNvGraphicFramePr/>
          <p:nvPr/>
        </p:nvGraphicFramePr>
        <p:xfrm>
          <a:off x="714375" y="1619250"/>
          <a:ext cx="1057275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47FA440-607E-4BD1-A986-ACFF2D68C700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1062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313F"/>
                </a:solidFill>
                <a:latin typeface="Arial"/>
                <a:ea typeface="Arial"/>
                <a:cs typeface="Arial"/>
              </a:rPr>
              <a:t>The overall pattern is strongly positive in this sample; this is an association, not proof of cause.</a:t>
            </a:r>
          </a:p>
        </p:txBody>
      </p:sp>
    </p:spTree>
    <p:extLst>
      <p:ext uri="{BB962C8B-B14F-4D97-AF65-F5344CB8AC3E}">
        <p14:creationId xmlns:p14="http://schemas.microsoft.com/office/powerpoint/2010/main" val="1120397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B2C3FA-31E0-4D54-9E4A-C41A09DF794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45720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C4B260-C6C7-40DE-9265-515FB0C978D5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Spending relationships with profit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E46FC-94EE-4924-A60F-5A4158CAA98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9525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09678F-028C-45B3-BF4E-596D257E9CF5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04  / 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C5565-7963-46C8-8248-40C863D5414A}"/>
              </a:ext>
            </a:extLst>
          </p:cNvPr>
          <p:cNvSpPr>
            <a:spLocks noGrp="1"/>
          </p:cNvSpPr>
          <p:nvPr/>
        </p:nvSpPr>
        <p:spPr>
          <a:xfrm>
            <a:off x="647700" y="11620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Simple correlation across the 50 startups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41AF84B4-6B67-448D-9555-9D1DC9634761}"/>
              </a:ext>
            </a:extLst>
          </p:cNvPr>
          <p:cNvGraphicFramePr/>
          <p:nvPr/>
        </p:nvGraphicFramePr>
        <p:xfrm>
          <a:off x="876300" y="1790700"/>
          <a:ext cx="10287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17FD5F8-C237-448D-92AE-79AA0C218C28}"/>
              </a:ext>
            </a:extLst>
          </p:cNvPr>
          <p:cNvSpPr>
            <a:spLocks noGrp="1"/>
          </p:cNvSpPr>
          <p:nvPr/>
        </p:nvSpPr>
        <p:spPr>
          <a:xfrm>
            <a:off x="781050" y="56197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313F"/>
                </a:solidFill>
                <a:latin typeface="Arial"/>
                <a:ea typeface="Arial"/>
                <a:cs typeface="Arial"/>
              </a:rPr>
              <a:t>R&amp;D has the clearest positive relationship. Administration’s simple relationship is much weaker.</a:t>
            </a:r>
          </a:p>
        </p:txBody>
      </p:sp>
    </p:spTree>
    <p:extLst>
      <p:ext uri="{BB962C8B-B14F-4D97-AF65-F5344CB8AC3E}">
        <p14:creationId xmlns:p14="http://schemas.microsoft.com/office/powerpoint/2010/main" val="121672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1E3B6D-6235-422D-87A1-1F1145FF1CC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45720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5B24B-5089-4B3C-82A3-0C77CA002750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Average profit by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DA92D0-49EF-43BD-93CF-9F0E1649173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9525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8EF2E3-51B9-45FE-BB8C-76FB534C2EC0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05  / 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7B3FE3-84F4-4118-AB8B-9CC3D437E78E}"/>
              </a:ext>
            </a:extLst>
          </p:cNvPr>
          <p:cNvSpPr>
            <a:spLocks noGrp="1"/>
          </p:cNvSpPr>
          <p:nvPr/>
        </p:nvSpPr>
        <p:spPr>
          <a:xfrm>
            <a:off x="647700" y="11620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Average profit per startup; counts differ slightly by State.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02A29EAE-F435-41E4-B881-049CA92037F1}"/>
              </a:ext>
            </a:extLst>
          </p:cNvPr>
          <p:cNvGraphicFramePr/>
          <p:nvPr/>
        </p:nvGraphicFramePr>
        <p:xfrm>
          <a:off x="876300" y="1790700"/>
          <a:ext cx="10287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630807A-2DB0-4E2B-A4CC-AC0682275273}"/>
              </a:ext>
            </a:extLst>
          </p:cNvPr>
          <p:cNvSpPr>
            <a:spLocks noGrp="1"/>
          </p:cNvSpPr>
          <p:nvPr/>
        </p:nvSpPr>
        <p:spPr>
          <a:xfrm>
            <a:off x="781050" y="56197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313F"/>
                </a:solidFill>
                <a:latin typeface="Arial"/>
                <a:ea typeface="Arial"/>
                <a:cs typeface="Arial"/>
              </a:rPr>
              <a:t>Florida has the highest average profit; New York has the highest total. Average and total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08909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8320EB-4B93-4D7F-97E5-040F75F4834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45720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3B5597-E8DA-489F-ABD9-929CDE6F49ED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Multiple regression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87F7B5-86D2-499A-BDB1-5516F517DDF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9525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66DD4-91B8-4AB8-BFF0-E7B47B491C2D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06  / 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F59C0E-00A6-4CF8-8368-775D24520D4D}"/>
              </a:ext>
            </a:extLst>
          </p:cNvPr>
          <p:cNvSpPr>
            <a:spLocks noGrp="1"/>
          </p:cNvSpPr>
          <p:nvPr/>
        </p:nvSpPr>
        <p:spPr>
          <a:xfrm>
            <a:off x="647700" y="120015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Estimated Profit = 50,122.193 + 0.8057(R&amp;D) − 0.0268(Administration) + 0.0272(Marketing)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F3561B-ED2C-444C-AD50-99406EBCE237}"/>
              </a:ext>
            </a:extLst>
          </p:cNvPr>
          <p:cNvGraphicFramePr/>
          <p:nvPr/>
        </p:nvGraphicFramePr>
        <p:xfrm>
          <a:off x="647700" y="2190750"/>
          <a:ext cx="10877550" cy="2381252"/>
        </p:xfrm>
        <a:graphic>
          <a:graphicData uri="http://schemas.openxmlformats.org/drawingml/2006/table">
            <a:tbl>
              <a:tblPr firstRow="1" bandRow="1"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R&amp;D Spend</a:t>
                      </a:r>
                    </a:p>
                  </a:txBody>
                  <a:tcPr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+0.8057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Positive association, holding other spending constant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Administration</a:t>
                      </a:r>
                    </a:p>
                  </a:txBody>
                  <a:tcPr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−0.0268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Slight negative estimate after accounting for other spending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Marketing Spend</a:t>
                      </a:r>
                    </a:p>
                  </a:txBody>
                  <a:tcPr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+0.0272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Small positive estimate, holding other spending constant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AF7B80-1E5C-4CA6-B893-7C7D14248F99}"/>
              </a:ext>
            </a:extLst>
          </p:cNvPr>
          <p:cNvSpPr>
            <a:spLocks noGrp="1"/>
          </p:cNvSpPr>
          <p:nvPr/>
        </p:nvSpPr>
        <p:spPr>
          <a:xfrm>
            <a:off x="647700" y="5019675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R² on all 50 rows: 0.951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F31ADE-7AF0-4423-BC23-054A0F538179}"/>
              </a:ext>
            </a:extLst>
          </p:cNvPr>
          <p:cNvSpPr>
            <a:spLocks noGrp="1"/>
          </p:cNvSpPr>
          <p:nvPr/>
        </p:nvSpPr>
        <p:spPr>
          <a:xfrm>
            <a:off x="647700" y="54673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0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313F"/>
                </a:solidFill>
                <a:latin typeface="Arial"/>
                <a:ea typeface="Arial"/>
                <a:cs typeface="Arial"/>
              </a:rPr>
              <a:t>80/20 holdout: R² 0.900  |  MAE 6,979  |  10 test rows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18692C-C45A-4AD9-8D13-32DF387C2C87}"/>
              </a:ext>
            </a:extLst>
          </p:cNvPr>
          <p:cNvSpPr>
            <a:spLocks noGrp="1"/>
          </p:cNvSpPr>
          <p:nvPr/>
        </p:nvSpPr>
        <p:spPr>
          <a:xfrm>
            <a:off x="647700" y="5857875"/>
            <a:ext cx="1033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Treat the holdout score cautiously because the test sample is small.</a:t>
            </a:r>
          </a:p>
        </p:txBody>
      </p:sp>
    </p:spTree>
    <p:extLst>
      <p:ext uri="{BB962C8B-B14F-4D97-AF65-F5344CB8AC3E}">
        <p14:creationId xmlns:p14="http://schemas.microsoft.com/office/powerpoint/2010/main" val="6981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75EDC6-8B06-4FF4-B2E1-D80ED36D3D4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45720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D09DE8-B699-4453-9335-6B984CAAA846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Predicted profit for the two 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E1256-0277-493A-BF7E-48C2561F6C5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9525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EA230-1170-4CEE-8EEA-1A8BD1C3F4D1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07  / 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1023C-F7B1-4E82-A72E-14884721F395}"/>
              </a:ext>
            </a:extLst>
          </p:cNvPr>
          <p:cNvSpPr>
            <a:spLocks noGrp="1"/>
          </p:cNvSpPr>
          <p:nvPr/>
        </p:nvSpPr>
        <p:spPr>
          <a:xfrm>
            <a:off x="647700" y="12001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57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The model used the spending fields in this order: R&amp;D, Administration, Marketing.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54F678-1CB3-40DB-810C-C3706A689203}"/>
              </a:ext>
            </a:extLst>
          </p:cNvPr>
          <p:cNvGraphicFramePr/>
          <p:nvPr/>
        </p:nvGraphicFramePr>
        <p:xfrm>
          <a:off x="647700" y="2238375"/>
          <a:ext cx="10877550" cy="2047875"/>
        </p:xfrm>
        <a:graphic>
          <a:graphicData uri="http://schemas.openxmlformats.org/drawingml/2006/table">
            <a:tbl>
              <a:tblPr firstRow="1" bandRow="1"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3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Startup</a:t>
                      </a:r>
                    </a:p>
                  </a:txBody>
                  <a:tcPr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R&amp;D Spend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Administration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Marketing Spend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Estimated Profit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>
                      <a:solidFill>
                        <a:srgbClr val="D7E0E7"/>
                      </a:solidFill>
                      <a:prstDash val="soli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21,892.92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81,910.77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164,270.70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70,037.90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lnL w="9525">
                      <a:solidFill>
                        <a:srgbClr val="D7E0E7"/>
                      </a:solidFill>
                      <a:prstDash val="soli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23,940.93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96,489.63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137,001.10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13F"/>
                          </a:solidFill>
                          <a:latin typeface="Arial"/>
                          <a:ea typeface="Arial"/>
                          <a:cs typeface="Arial"/>
                        </a:rPr>
                        <a:t>70,554.57</a:t>
                      </a:r>
                    </a:p>
                  </a:txBody>
                  <a:tcPr>
                    <a:lnL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E0E7"/>
                      </a:solidFill>
                      <a:prstDash val="solid"/>
                    </a:lnR>
                    <a:lnT w="9525" cap="flat" cmpd="sng" algn="ctr">
                      <a:solidFill>
                        <a:srgbClr val="D7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E0E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ABDF4E7-0BE2-49A8-936A-947412F85209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10877550" cy="19050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41CA96-95CC-42FA-9EDE-284F6839B129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800" b="1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313F"/>
                </a:solidFill>
                <a:latin typeface="Arial"/>
                <a:ea typeface="Arial"/>
                <a:cs typeface="Arial"/>
              </a:rPr>
              <a:t>These are estimates based on the fitted model, not guaranteed outcomes.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534C8-4918-49DA-A722-C530CBDB354A}"/>
              </a:ext>
            </a:extLst>
          </p:cNvPr>
          <p:cNvSpPr>
            <a:spLocks noGrp="1"/>
          </p:cNvSpPr>
          <p:nvPr/>
        </p:nvSpPr>
        <p:spPr>
          <a:xfrm>
            <a:off x="647700" y="571500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425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Values are in the dataset’s monetary units; the brief does not name a currency.</a:t>
            </a:r>
          </a:p>
        </p:txBody>
      </p:sp>
    </p:spTree>
    <p:extLst>
      <p:ext uri="{BB962C8B-B14F-4D97-AF65-F5344CB8AC3E}">
        <p14:creationId xmlns:p14="http://schemas.microsoft.com/office/powerpoint/2010/main" val="65824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B538D8E-D75C-48D6-A415-F7D88D31D66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76200" cy="45720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00BC1E-F052-4EDF-8095-415870F54E08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Recommendations and limits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4B6C68-8BB0-47C0-9BBA-52A09562A61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9525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455950-D001-4A1A-8323-09F8BB1F7E34}"/>
              </a:ext>
            </a:extLst>
          </p:cNvPr>
          <p:cNvSpPr>
            <a:spLocks noGrp="1"/>
          </p:cNvSpPr>
          <p:nvPr/>
        </p:nvSpPr>
        <p:spPr>
          <a:xfrm>
            <a:off x="10382250" y="645795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5000"/>
              </a:lnSpc>
              <a:buNone/>
              <a:defRPr sz="1050" b="0">
                <a:solidFill>
                  <a:srgbClr val="59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B7A"/>
                </a:solidFill>
                <a:latin typeface="Arial"/>
                <a:ea typeface="Arial"/>
                <a:cs typeface="Arial"/>
              </a:rPr>
              <a:t>08  /  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B5D3E-48AD-4827-86AC-83DE5BE5F06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What the data supports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302474-6872-4354-B9EB-C20B3B42E4EE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5238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13F"/>
                </a:solidFill>
                <a:latin typeface="Arial"/>
                <a:ea typeface="Arial"/>
                <a:cs typeface="Arial"/>
              </a:rPr>
              <a:t>• Evaluate R&amp;D investments against profit outcomes over time.</a:t>
            </a:r>
          </a:p>
          <a:p>
            <a:endParaRPr sz="1725" b="0">
              <a:solidFill>
                <a:srgbClr val="22313F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13F"/>
                </a:solidFill>
                <a:latin typeface="Arial"/>
                <a:ea typeface="Arial"/>
                <a:cs typeface="Arial"/>
              </a:rPr>
              <a:t>• Track Marketing returns rather than spend alone.</a:t>
            </a:r>
          </a:p>
          <a:p>
            <a:endParaRPr sz="1725" b="0">
              <a:solidFill>
                <a:srgbClr val="22313F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313F"/>
                </a:solidFill>
                <a:latin typeface="Arial"/>
                <a:ea typeface="Arial"/>
                <a:cs typeface="Arial"/>
              </a:rPr>
              <a:t>• Review Administration spending in context; do not cut it based only on this model.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8AE5D-3E18-4B14-B6F5-1A4690A7944B}"/>
              </a:ext>
            </a:extLst>
          </p:cNvPr>
          <p:cNvSpPr>
            <a:spLocks noGrp="1"/>
          </p:cNvSpPr>
          <p:nvPr/>
        </p:nvSpPr>
        <p:spPr>
          <a:xfrm>
            <a:off x="6343650" y="1390650"/>
            <a:ext cx="19050" cy="4000500"/>
          </a:xfrm>
          <a:prstGeom prst="rect">
            <a:avLst/>
          </a:prstGeom>
          <a:solidFill>
            <a:srgbClr val="D7E0E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1380D5-D2FC-4822-B8A2-73465B47F934}"/>
              </a:ext>
            </a:extLst>
          </p:cNvPr>
          <p:cNvSpPr>
            <a:spLocks noGrp="1"/>
          </p:cNvSpPr>
          <p:nvPr/>
        </p:nvSpPr>
        <p:spPr>
          <a:xfrm>
            <a:off x="6743700" y="12382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350" b="1">
                <a:solidFill>
                  <a:srgbClr val="D977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45"/>
                </a:solidFill>
                <a:latin typeface="Arial"/>
                <a:ea typeface="Arial"/>
                <a:cs typeface="Arial"/>
              </a:rPr>
              <a:t>What to keep in mind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124B8-81EC-4ED6-8B85-E77247E7086E}"/>
              </a:ext>
            </a:extLst>
          </p:cNvPr>
          <p:cNvSpPr>
            <a:spLocks noGrp="1"/>
          </p:cNvSpPr>
          <p:nvPr/>
        </p:nvSpPr>
        <p:spPr>
          <a:xfrm>
            <a:off x="6743700" y="1695450"/>
            <a:ext cx="4667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313F"/>
                </a:solidFill>
                <a:latin typeface="Arial"/>
                <a:ea typeface="Arial"/>
                <a:cs typeface="Arial"/>
              </a:rPr>
              <a:t>• The dataset has only 50 startups.</a:t>
            </a:r>
          </a:p>
          <a:p>
            <a:endParaRPr sz="1650" b="0">
              <a:solidFill>
                <a:srgbClr val="22313F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313F"/>
                </a:solidFill>
                <a:latin typeface="Arial"/>
                <a:ea typeface="Arial"/>
                <a:cs typeface="Arial"/>
              </a:rPr>
              <a:t>• Spending and profit move together in this sample; the analysis cannot prove that spending caused profit changes.</a:t>
            </a:r>
          </a:p>
          <a:p>
            <a:endParaRPr sz="1650" b="0">
              <a:solidFill>
                <a:srgbClr val="22313F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2231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313F"/>
                </a:solidFill>
                <a:latin typeface="Arial"/>
                <a:ea typeface="Arial"/>
                <a:cs typeface="Arial"/>
              </a:rPr>
              <a:t>• State averages describe these records, not every startup in each State.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92C932-ED67-4595-B974-B4CA80D164C7}"/>
              </a:ext>
            </a:extLst>
          </p:cNvPr>
          <p:cNvSpPr>
            <a:spLocks noGrp="1"/>
          </p:cNvSpPr>
          <p:nvPr/>
        </p:nvSpPr>
        <p:spPr>
          <a:xfrm>
            <a:off x="647700" y="5505450"/>
            <a:ext cx="10877550" cy="19050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822657-FBA9-47A4-900F-939CDA318BDE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5000"/>
              </a:lnSpc>
              <a:buNone/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Use the results to guide questions and testing, not as a guaranteed budget formula.</a:t>
            </a:r>
          </a:p>
        </p:txBody>
      </p:sp>
    </p:spTree>
    <p:extLst>
      <p:ext uri="{BB962C8B-B14F-4D97-AF65-F5344CB8AC3E}">
        <p14:creationId xmlns:p14="http://schemas.microsoft.com/office/powerpoint/2010/main" val="20078931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DocSecurity>0</DocSecurity>
  <PresentationFormat>Widescreen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Sammed Badde</cp:lastModifiedBy>
  <cp:revision>1</cp:revision>
  <dcterms:created xsi:type="dcterms:W3CDTF">2026-10-29T06:46:53Z</dcterms:created>
  <dcterms:modified xsi:type="dcterms:W3CDTF">2026-10-29T06:50:42Z</dcterms:modified>
</cp:coreProperties>
</file>